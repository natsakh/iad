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396" r:id="rId2"/>
    <p:sldId id="401" r:id="rId3"/>
    <p:sldId id="402" r:id="rId4"/>
    <p:sldId id="405" r:id="rId5"/>
    <p:sldId id="403" r:id="rId6"/>
    <p:sldId id="406" r:id="rId7"/>
    <p:sldId id="404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49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FE2FB84-5582-44DF-84C8-04F496BBBA3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C0A13DB-4ED6-445E-AC08-4E807EA79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1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463-F6AA-46A9-85C7-E80976E6FB67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12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EDF4-265A-457A-B994-51DB34D32C70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0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DFCE-6069-4EDC-8E42-0D9301BED767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89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7C2-0E6C-43C2-8C52-32604281316F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9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A6589-EDF7-4B44-A1BE-A8034581A02A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3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6F38F-AB04-4236-91B5-8EC208658282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2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05B5-99F2-44E6-9580-02690A23AB3E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2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CBC8-10F8-4A10-88C7-8498B83F9A85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5108-2A14-4084-88FD-0AAC6E4244EA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9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F5CB-DC06-42E2-9656-9B010846110C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48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B864B-6B90-46F2-A5C4-E49277FE4A3F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9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70927-0AE9-420B-9248-AF80E3A6AA39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5CEB7-9F11-4C86-B8C2-15A68E102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pytorch.org/tutorials/advanced/neural_style_tutorial.html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iseodd.github.io/techblog/2016/12/10/variational-autoencoder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05CAC-1A6F-4C51-21AD-32AC6FDF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1</a:t>
            </a:fld>
            <a:endParaRPr lang="en-US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3BF962FC-43CC-7E8C-4DAD-5094BBC54DD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674C8785-E254-EE9A-5C12-C9E9A519A77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18A1612B-5085-3878-36F4-3A62D2001AC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12B5EF55-8C3F-A7AB-BD53-E3A6E3121AC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D2CD575E-1596-6CC0-1578-7773FE60766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2DC2CBBD-5BD2-3FFE-5C82-2D4715EEB5A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006687BE-EE73-8033-89E5-633B6656996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1469D8DC-C848-9106-B2FE-BB29B7A6325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30D27B-95DE-BEB0-5F77-608FB6BD65FA}"/>
              </a:ext>
            </a:extLst>
          </p:cNvPr>
          <p:cNvSpPr txBox="1"/>
          <p:nvPr/>
        </p:nvSpPr>
        <p:spPr>
          <a:xfrm>
            <a:off x="588417" y="2765205"/>
            <a:ext cx="99128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Intellectual Data Analysis</a:t>
            </a:r>
          </a:p>
          <a:p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3600" dirty="0">
                <a:solidFill>
                  <a:schemeClr val="bg2">
                    <a:lumMod val="25000"/>
                  </a:schemeClr>
                </a:solidFill>
              </a:rPr>
              <a:t>Practice 8: Image Generation with Neural Nets </a:t>
            </a:r>
            <a:r>
              <a:rPr lang="uk-UA" sz="4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		</a:t>
            </a:r>
            <a:endParaRPr lang="en-US" sz="40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F181851-77B7-D0C9-F83E-E6B81637CF20}"/>
              </a:ext>
            </a:extLst>
          </p:cNvPr>
          <p:cNvCxnSpPr>
            <a:cxnSpLocks/>
          </p:cNvCxnSpPr>
          <p:nvPr/>
        </p:nvCxnSpPr>
        <p:spPr>
          <a:xfrm>
            <a:off x="588417" y="5032650"/>
            <a:ext cx="8289755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52B0BCE-2202-5EFD-0104-5449D6E61E61}"/>
              </a:ext>
            </a:extLst>
          </p:cNvPr>
          <p:cNvSpPr txBox="1"/>
          <p:nvPr/>
        </p:nvSpPr>
        <p:spPr>
          <a:xfrm>
            <a:off x="588417" y="5442861"/>
            <a:ext cx="33427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Dr. Nataliya K. Sakhnenko</a:t>
            </a:r>
          </a:p>
          <a:p>
            <a:endParaRPr lang="en-US" sz="2400" dirty="0"/>
          </a:p>
        </p:txBody>
      </p:sp>
      <p:pic>
        <p:nvPicPr>
          <p:cNvPr id="16" name="Picture 2" descr="National Technical University of Ukraine“Igor Sikorsky Kyiv Polytechnic  Institute”-GUANGZHOU INTERNATIONAL SISTER-CITY UNIVERSITIES">
            <a:extLst>
              <a:ext uri="{FF2B5EF4-FFF2-40B4-BE49-F238E27FC236}">
                <a16:creationId xmlns:a16="http://schemas.microsoft.com/office/drawing/2014/main" id="{652298A1-7E9A-24C0-C5B5-A74BF551D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347" y="274586"/>
            <a:ext cx="3463589" cy="154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52B6AB0-DF29-C9F5-11F1-867C50AC6C65}"/>
              </a:ext>
            </a:extLst>
          </p:cNvPr>
          <p:cNvSpPr txBox="1"/>
          <p:nvPr/>
        </p:nvSpPr>
        <p:spPr>
          <a:xfrm>
            <a:off x="8123930" y="377820"/>
            <a:ext cx="18582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effectLst/>
              </a:rPr>
              <a:t>Institute of Physics and Technology</a:t>
            </a:r>
            <a:endParaRPr lang="ru-UA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D92FFBA-4BB2-56E1-41A0-1ED61252B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700" y="203326"/>
            <a:ext cx="1684178" cy="16841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80A6651-AA69-23DA-F568-42333C28ADEC}"/>
              </a:ext>
            </a:extLst>
          </p:cNvPr>
          <p:cNvSpPr txBox="1"/>
          <p:nvPr/>
        </p:nvSpPr>
        <p:spPr>
          <a:xfrm>
            <a:off x="6191700" y="6075144"/>
            <a:ext cx="565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UA" altLang="ru-UA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Please</a:t>
            </a:r>
            <a:r>
              <a:rPr kumimoji="0" lang="ru-UA" altLang="ru-UA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UA" altLang="ru-UA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</a:t>
            </a:r>
            <a:r>
              <a:rPr kumimoji="0" lang="ru-UA" altLang="ru-UA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UA" altLang="ru-UA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Lecture</a:t>
            </a:r>
            <a:r>
              <a:rPr kumimoji="0" lang="en-US" altLang="ru-UA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 </a:t>
            </a:r>
            <a:r>
              <a:rPr lang="en-US" altLang="ru-UA" i="1" dirty="0">
                <a:latin typeface="Arial" panose="020B0604020202020204" pitchFamily="34" charset="0"/>
              </a:rPr>
              <a:t>12-13</a:t>
            </a:r>
            <a:r>
              <a:rPr kumimoji="0" lang="en-US" altLang="ru-UA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UA" altLang="ru-UA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ru-UA" altLang="ru-UA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UA" altLang="ru-UA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ru-UA" altLang="ru-UA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UA" altLang="ru-UA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514764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46E362-367B-CA84-5105-37D632091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2</a:t>
            </a:fld>
            <a:endParaRPr lang="en-US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3455F2EB-8ECC-E988-13C8-20F8D42E3A9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C6A368-702D-E041-11E0-45D972DA49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74" t="51003" r="16196" b="23495"/>
          <a:stretch/>
        </p:blipFill>
        <p:spPr>
          <a:xfrm>
            <a:off x="227390" y="672806"/>
            <a:ext cx="4676923" cy="14026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325AE9-9DCC-D28A-9D9C-2371EBE9522B}"/>
              </a:ext>
            </a:extLst>
          </p:cNvPr>
          <p:cNvSpPr txBox="1"/>
          <p:nvPr/>
        </p:nvSpPr>
        <p:spPr>
          <a:xfrm>
            <a:off x="0" y="14992"/>
            <a:ext cx="12192000" cy="58477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Neural Style Transfer 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7AC1C-C987-E318-FA1A-87BBA3528B09}"/>
              </a:ext>
            </a:extLst>
          </p:cNvPr>
          <p:cNvSpPr txBox="1"/>
          <p:nvPr/>
        </p:nvSpPr>
        <p:spPr>
          <a:xfrm>
            <a:off x="227390" y="2075479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2015</a:t>
            </a:r>
            <a:endParaRPr lang="ru-UA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A995E7AB-A346-096D-A99C-335FBC778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770" y="2075479"/>
            <a:ext cx="9335577" cy="385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551B827-4C78-92BD-4933-653F9B0510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711" t="27214" r="20665" b="62493"/>
          <a:stretch/>
        </p:blipFill>
        <p:spPr>
          <a:xfrm>
            <a:off x="4396331" y="5499225"/>
            <a:ext cx="6047964" cy="12233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343449-41A4-4911-F182-45F5F9972891}"/>
              </a:ext>
            </a:extLst>
          </p:cNvPr>
          <p:cNvSpPr txBox="1"/>
          <p:nvPr/>
        </p:nvSpPr>
        <p:spPr>
          <a:xfrm>
            <a:off x="5090922" y="742620"/>
            <a:ext cx="6873688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UA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https://docs.pytorch.org/tutorials/advanced/neural_style_tutorial.html</a:t>
            </a:r>
            <a:endParaRPr lang="ru-U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95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FC804F-556A-DF79-595B-9F377C24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3</a:t>
            </a:fld>
            <a:endParaRPr lang="en-US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DBFF6DE6-9B8A-9C24-6A14-1E8E41460A7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F8E9C9AD-0C19-E45A-A05C-7EDCF8AE731D}"/>
              </a:ext>
            </a:extLst>
          </p:cNvPr>
          <p:cNvSpPr txBox="1"/>
          <p:nvPr/>
        </p:nvSpPr>
        <p:spPr>
          <a:xfrm>
            <a:off x="7697630" y="5215472"/>
            <a:ext cx="45053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Z</a:t>
            </a:r>
            <a:r>
              <a:rPr lang="en-US" sz="2000" dirty="0">
                <a:solidFill>
                  <a:prstClr val="black"/>
                </a:solidFill>
              </a:rPr>
              <a:t> is some random noise (Gaussian/Uniform).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b="1" dirty="0">
                <a:solidFill>
                  <a:prstClr val="black"/>
                </a:solidFill>
              </a:rPr>
              <a:t>Z</a:t>
            </a:r>
            <a:r>
              <a:rPr lang="en-US" sz="2000" dirty="0">
                <a:solidFill>
                  <a:prstClr val="black"/>
                </a:solidFill>
              </a:rPr>
              <a:t> can be thought as the latent representation of the image.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4A1A0-1F29-6724-D397-1D8B8CDD1382}"/>
              </a:ext>
            </a:extLst>
          </p:cNvPr>
          <p:cNvSpPr txBox="1"/>
          <p:nvPr/>
        </p:nvSpPr>
        <p:spPr>
          <a:xfrm>
            <a:off x="0" y="14992"/>
            <a:ext cx="12192000" cy="58477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GAN’s Architecture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56F3FF-1FA3-7C83-B15B-9BA86A06BC47}"/>
              </a:ext>
            </a:extLst>
          </p:cNvPr>
          <p:cNvSpPr/>
          <p:nvPr/>
        </p:nvSpPr>
        <p:spPr>
          <a:xfrm>
            <a:off x="-216472" y="5215473"/>
            <a:ext cx="79377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Generator: generate fake samples, tries to fool the Discriminator</a:t>
            </a:r>
          </a:p>
          <a:p>
            <a:pPr lvl="1"/>
            <a:r>
              <a:rPr lang="en-US" sz="2000" dirty="0"/>
              <a:t>Discriminator: tries to distinguish between real and fake samples</a:t>
            </a:r>
          </a:p>
          <a:p>
            <a:pPr lvl="1"/>
            <a:r>
              <a:rPr lang="en-US" sz="2000" dirty="0"/>
              <a:t>Train them against each other</a:t>
            </a:r>
          </a:p>
          <a:p>
            <a:pPr lvl="1"/>
            <a:r>
              <a:rPr lang="en-US" sz="2000" dirty="0"/>
              <a:t>Repeat this and we get better Generator and Discriminator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08725F74-677A-313C-201B-6413E394AF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593" y="884627"/>
            <a:ext cx="9200706" cy="4178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66D8DA-5DA1-A975-2402-2E2625617E5C}"/>
              </a:ext>
            </a:extLst>
          </p:cNvPr>
          <p:cNvSpPr txBox="1"/>
          <p:nvPr/>
        </p:nvSpPr>
        <p:spPr>
          <a:xfrm>
            <a:off x="2458387" y="2728210"/>
            <a:ext cx="37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1E882-AAD4-689F-54EA-8B2733D80AFD}"/>
              </a:ext>
            </a:extLst>
          </p:cNvPr>
          <p:cNvSpPr txBox="1"/>
          <p:nvPr/>
        </p:nvSpPr>
        <p:spPr>
          <a:xfrm>
            <a:off x="5354743" y="2912876"/>
            <a:ext cx="9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G(z)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36F68-5D0C-D66D-02DB-D627D28EB7D1}"/>
              </a:ext>
            </a:extLst>
          </p:cNvPr>
          <p:cNvSpPr txBox="1"/>
          <p:nvPr/>
        </p:nvSpPr>
        <p:spPr>
          <a:xfrm>
            <a:off x="9344625" y="1851073"/>
            <a:ext cx="9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D(x)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F96B7E-0858-C3D0-53FA-00B493FA6627}"/>
              </a:ext>
            </a:extLst>
          </p:cNvPr>
          <p:cNvSpPr txBox="1"/>
          <p:nvPr/>
        </p:nvSpPr>
        <p:spPr>
          <a:xfrm>
            <a:off x="5468798" y="992107"/>
            <a:ext cx="9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DC229C-E605-E606-92D6-5893006B86DF}"/>
              </a:ext>
            </a:extLst>
          </p:cNvPr>
          <p:cNvSpPr txBox="1"/>
          <p:nvPr/>
        </p:nvSpPr>
        <p:spPr>
          <a:xfrm>
            <a:off x="9359614" y="3232452"/>
            <a:ext cx="118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D(G(z))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4B628B-67C3-07C9-F4DE-2C18966BE24C}"/>
              </a:ext>
            </a:extLst>
          </p:cNvPr>
          <p:cNvSpPr txBox="1"/>
          <p:nvPr/>
        </p:nvSpPr>
        <p:spPr>
          <a:xfrm>
            <a:off x="3909441" y="2586226"/>
            <a:ext cx="9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C78493-DFAC-E065-B16D-706BEBE12F09}"/>
              </a:ext>
            </a:extLst>
          </p:cNvPr>
          <p:cNvSpPr txBox="1"/>
          <p:nvPr/>
        </p:nvSpPr>
        <p:spPr>
          <a:xfrm>
            <a:off x="7713951" y="1851073"/>
            <a:ext cx="90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80073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473157-EDD1-FD58-8925-A1A9AE16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4</a:t>
            </a:fld>
            <a:endParaRPr lang="en-US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0A95FF5A-561F-000D-CDF0-04C26FAC709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A03267-8A48-BB62-91E8-F6BC356966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651"/>
          <a:stretch/>
        </p:blipFill>
        <p:spPr>
          <a:xfrm>
            <a:off x="152764" y="84263"/>
            <a:ext cx="11201036" cy="19992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240AF626-59B1-85B0-8350-CFB131F70805}"/>
                  </a:ext>
                </a:extLst>
              </p:cNvPr>
              <p:cNvSpPr/>
              <p:nvPr/>
            </p:nvSpPr>
            <p:spPr>
              <a:xfrm>
                <a:off x="1368379" y="5267236"/>
                <a:ext cx="7582437" cy="1180131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5">
                        <a:lumMod val="50000"/>
                      </a:schemeClr>
                    </a:solidFill>
                  </a:rPr>
                  <a:t>The Nash equilibrium of this particular game is achieved at:</a:t>
                </a:r>
                <a:endParaRPr lang="en-US" sz="2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𝑔𝑒𝑛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  <a:p>
                <a:pPr lvl="1"/>
                <a:r>
                  <a:rPr lang="en-US" sz="2000" dirty="0"/>
                  <a:t>		            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bg-B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240AF626-59B1-85B0-8350-CFB131F708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379" y="5267236"/>
                <a:ext cx="7582437" cy="1180131"/>
              </a:xfrm>
              <a:prstGeom prst="rect">
                <a:avLst/>
              </a:prstGeom>
              <a:blipFill>
                <a:blip r:embed="rId3"/>
                <a:stretch>
                  <a:fillRect l="-722" t="-2041" b="-1531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ru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CF4079-9E6A-C3BE-3EF2-63B95E079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27" y="2297579"/>
            <a:ext cx="9566670" cy="7724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651802C-0DE4-9271-CFAD-47CC973174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951"/>
          <a:stretch/>
        </p:blipFill>
        <p:spPr>
          <a:xfrm>
            <a:off x="152764" y="3498200"/>
            <a:ext cx="11201036" cy="134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41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18BAC-6A1A-89BB-B5EF-AE3C26DC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5</a:t>
            </a:fld>
            <a:endParaRPr lang="en-US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3DB97AE7-0C49-9C60-9F03-78594FE65BD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D5C80B9-9FD6-E19F-6BE0-7C1542900980}"/>
              </a:ext>
            </a:extLst>
          </p:cNvPr>
          <p:cNvGrpSpPr/>
          <p:nvPr/>
        </p:nvGrpSpPr>
        <p:grpSpPr>
          <a:xfrm>
            <a:off x="1227189" y="672353"/>
            <a:ext cx="9737622" cy="4340615"/>
            <a:chOff x="188375" y="650663"/>
            <a:chExt cx="11700776" cy="5420140"/>
          </a:xfrm>
        </p:grpSpPr>
        <p:pic>
          <p:nvPicPr>
            <p:cNvPr id="7" name="Picture 2" descr="Image result for VAE">
              <a:extLst>
                <a:ext uri="{FF2B5EF4-FFF2-40B4-BE49-F238E27FC236}">
                  <a16:creationId xmlns:a16="http://schemas.microsoft.com/office/drawing/2014/main" id="{2C24DA92-0CE9-5A67-C4F0-FE87C9DAA4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375" y="650663"/>
              <a:ext cx="11700776" cy="5420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8" name="Объект 7">
              <a:extLst>
                <a:ext uri="{FF2B5EF4-FFF2-40B4-BE49-F238E27FC236}">
                  <a16:creationId xmlns:a16="http://schemas.microsoft.com/office/drawing/2014/main" id="{F024EB28-AFFC-DBAC-FD2C-1634961992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7767739"/>
                </p:ext>
              </p:extLst>
            </p:nvPr>
          </p:nvGraphicFramePr>
          <p:xfrm>
            <a:off x="2650708" y="2141872"/>
            <a:ext cx="1539875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11000" imgH="228600" progId="Equation.DSMT4">
                    <p:embed/>
                  </p:oleObj>
                </mc:Choice>
                <mc:Fallback>
                  <p:oleObj name="Equation" r:id="rId3" imgW="711000" imgH="228600" progId="Equation.DSMT4">
                    <p:embed/>
                    <p:pic>
                      <p:nvPicPr>
                        <p:cNvPr id="5" name="Объект 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50708" y="2141872"/>
                          <a:ext cx="1539875" cy="4953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Объект 8">
              <a:extLst>
                <a:ext uri="{FF2B5EF4-FFF2-40B4-BE49-F238E27FC236}">
                  <a16:creationId xmlns:a16="http://schemas.microsoft.com/office/drawing/2014/main" id="{0AEEAC96-402E-0131-0203-EEECEEB3F9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2618929"/>
                </p:ext>
              </p:extLst>
            </p:nvPr>
          </p:nvGraphicFramePr>
          <p:xfrm>
            <a:off x="7827168" y="3979681"/>
            <a:ext cx="1566863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23600" imgH="228600" progId="Equation.DSMT4">
                    <p:embed/>
                  </p:oleObj>
                </mc:Choice>
                <mc:Fallback>
                  <p:oleObj name="Equation" r:id="rId5" imgW="723600" imgH="228600" progId="Equation.DSMT4">
                    <p:embed/>
                    <p:pic>
                      <p:nvPicPr>
                        <p:cNvPr id="6" name="Объект 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827168" y="3979681"/>
                          <a:ext cx="1566863" cy="4953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60208E8-B7FD-82B3-A3A6-5AFB0D0A5B46}"/>
              </a:ext>
            </a:extLst>
          </p:cNvPr>
          <p:cNvSpPr txBox="1"/>
          <p:nvPr/>
        </p:nvSpPr>
        <p:spPr>
          <a:xfrm>
            <a:off x="0" y="14992"/>
            <a:ext cx="12192000" cy="58477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Variational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autoencoder</a:t>
            </a:r>
            <a:r>
              <a:rPr lang="en-US" sz="3200" dirty="0">
                <a:solidFill>
                  <a:schemeClr val="bg1"/>
                </a:solidFill>
              </a:rPr>
              <a:t> (VAE)    </a:t>
            </a:r>
            <a:r>
              <a:rPr lang="en-US" dirty="0"/>
              <a:t>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4E7AE32-3C31-5564-E25E-EFABF08537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843"/>
          <a:stretch>
            <a:fillRect/>
          </a:stretch>
        </p:blipFill>
        <p:spPr>
          <a:xfrm>
            <a:off x="737439" y="5169366"/>
            <a:ext cx="10717121" cy="136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98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F8DFAD-977B-73D8-66E1-A6250AE2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6</a:t>
            </a:fld>
            <a:endParaRPr lang="en-US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1C42843E-1CE4-87CC-3EB5-D3A9FE22892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FD6AB23-F33B-6302-FFD1-8DA00AA9F427}"/>
              </a:ext>
            </a:extLst>
          </p:cNvPr>
          <p:cNvSpPr/>
          <p:nvPr/>
        </p:nvSpPr>
        <p:spPr>
          <a:xfrm>
            <a:off x="844446" y="910095"/>
            <a:ext cx="113475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easiest choice for P(z)is N(0,1). Hence, we want to make Q(</a:t>
            </a:r>
            <a:r>
              <a:rPr lang="en-US" sz="2400" dirty="0" err="1"/>
              <a:t>z|X</a:t>
            </a:r>
            <a:r>
              <a:rPr lang="en-US" sz="2400" dirty="0"/>
              <a:t>) to be as close as possible to N(0,1) so that we could sample it easily.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68B949-09AF-5E18-BDF3-926B8C4D9729}"/>
              </a:ext>
            </a:extLst>
          </p:cNvPr>
          <p:cNvSpPr txBox="1"/>
          <p:nvPr/>
        </p:nvSpPr>
        <p:spPr>
          <a:xfrm>
            <a:off x="0" y="14992"/>
            <a:ext cx="12192000" cy="58477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VAE intuition   </a:t>
            </a:r>
            <a:r>
              <a:rPr lang="en-US" dirty="0"/>
              <a:t>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7ABCEC-1549-2B93-0863-4F93405A44CF}"/>
              </a:ext>
            </a:extLst>
          </p:cNvPr>
          <p:cNvSpPr/>
          <p:nvPr/>
        </p:nvSpPr>
        <p:spPr>
          <a:xfrm>
            <a:off x="844446" y="1895857"/>
            <a:ext cx="106380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We also want Q(</a:t>
            </a:r>
            <a:r>
              <a:rPr lang="en-US" sz="2400" dirty="0" err="1"/>
              <a:t>z|X</a:t>
            </a:r>
            <a:r>
              <a:rPr lang="en-US" sz="2400" dirty="0"/>
              <a:t>) to be Gaussian with parameters μ(X) and Σ(X). The KL divergence between those two distribution could be computed in closed form!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B7A612-F470-BCFB-D212-2565214431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81" t="53805" r="58158" b="30767"/>
          <a:stretch/>
        </p:blipFill>
        <p:spPr>
          <a:xfrm>
            <a:off x="844446" y="2806334"/>
            <a:ext cx="3820319" cy="1128586"/>
          </a:xfrm>
          <a:prstGeom prst="rect">
            <a:avLst/>
          </a:prstGeom>
          <a:ln>
            <a:noFill/>
          </a:ln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EFC228B-3356-7423-978C-E458C0E9DB86}"/>
              </a:ext>
            </a:extLst>
          </p:cNvPr>
          <p:cNvSpPr/>
          <p:nvPr/>
        </p:nvSpPr>
        <p:spPr>
          <a:xfrm>
            <a:off x="169572" y="6352143"/>
            <a:ext cx="11852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https://wiseodd.github.io/techblog/2016/12/10/variational-autoencoder/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BFC7631-A4F7-3076-13DD-4C76875DEC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239" t="65533" r="13714" b="5509"/>
          <a:stretch/>
        </p:blipFill>
        <p:spPr>
          <a:xfrm>
            <a:off x="844446" y="4084932"/>
            <a:ext cx="9634332" cy="211829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C017D1F-D1E1-C1CC-4B97-21AAD4D67D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975" t="50587" r="17926" b="38000"/>
          <a:stretch/>
        </p:blipFill>
        <p:spPr>
          <a:xfrm>
            <a:off x="4764885" y="3016373"/>
            <a:ext cx="5217315" cy="8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5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A7BBD9-8487-E3BA-9C3A-1669DBC8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5CEB7-9F11-4C86-B8C2-15A68E102A92}" type="slidenum">
              <a:rPr lang="en-US" smtClean="0"/>
              <a:t>7</a:t>
            </a:fld>
            <a:endParaRPr lang="en-US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AFB7F4F7-2E1C-A86F-DF63-D26DA1139C1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5CEB7-9F11-4C86-B8C2-15A68E102A9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03B7F-49BF-5DE9-A62F-4F94E64919C6}"/>
              </a:ext>
            </a:extLst>
          </p:cNvPr>
          <p:cNvSpPr txBox="1"/>
          <p:nvPr/>
        </p:nvSpPr>
        <p:spPr>
          <a:xfrm>
            <a:off x="0" y="14992"/>
            <a:ext cx="12192000" cy="58477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Denoising Diffusion Probabilistic Models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FFEE8A-99D4-6006-5EE7-6D6EB7E6DF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32" t="40388" r="8180" b="31909"/>
          <a:stretch/>
        </p:blipFill>
        <p:spPr>
          <a:xfrm>
            <a:off x="1201270" y="640116"/>
            <a:ext cx="10266027" cy="18201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BBF883-6AA6-CE1D-B60A-DFF42F8E09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315" t="50513" r="27403" b="42051"/>
          <a:stretch/>
        </p:blipFill>
        <p:spPr>
          <a:xfrm>
            <a:off x="3937460" y="2460274"/>
            <a:ext cx="5334000" cy="5984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125B0E-DDCC-FB89-896C-6F7171627FA7}"/>
              </a:ext>
            </a:extLst>
          </p:cNvPr>
          <p:cNvSpPr txBox="1"/>
          <p:nvPr/>
        </p:nvSpPr>
        <p:spPr>
          <a:xfrm>
            <a:off x="755559" y="2500623"/>
            <a:ext cx="2808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forward process:</a:t>
            </a:r>
            <a:endParaRPr lang="ru-UA" sz="2400" dirty="0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D9842CA9-F334-968F-0232-28BD683CA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47" y="3099067"/>
            <a:ext cx="6637272" cy="88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4D2B2D4B-7B02-44C2-763A-B6E6EF740C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757"/>
          <a:stretch/>
        </p:blipFill>
        <p:spPr bwMode="auto">
          <a:xfrm>
            <a:off x="7533194" y="3115073"/>
            <a:ext cx="1738266" cy="51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CB90F56E-58BF-08CD-C94B-F4FEA1948F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19"/>
          <a:stretch/>
        </p:blipFill>
        <p:spPr bwMode="auto">
          <a:xfrm>
            <a:off x="9510435" y="2866079"/>
            <a:ext cx="1738266" cy="100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61EECB40-186A-ED7E-950D-E31505140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47" y="4061246"/>
            <a:ext cx="11106705" cy="265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4008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3661</TotalTime>
  <Words>290</Words>
  <Application>Microsoft Office PowerPoint</Application>
  <PresentationFormat>Широкоэкранный</PresentationFormat>
  <Paragraphs>54</Paragraphs>
  <Slides>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Тема Office</vt:lpstr>
      <vt:lpstr>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Nataliya Sakhnenko</dc:creator>
  <cp:lastModifiedBy>Nataliya Sakhnenko</cp:lastModifiedBy>
  <cp:revision>457</cp:revision>
  <cp:lastPrinted>2019-09-29T11:28:12Z</cp:lastPrinted>
  <dcterms:created xsi:type="dcterms:W3CDTF">2019-08-31T10:08:00Z</dcterms:created>
  <dcterms:modified xsi:type="dcterms:W3CDTF">2025-12-08T06:20:35Z</dcterms:modified>
</cp:coreProperties>
</file>